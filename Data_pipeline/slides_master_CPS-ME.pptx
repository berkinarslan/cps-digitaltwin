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7"/>
  </p:notesMasterIdLst>
  <p:handoutMasterIdLst>
    <p:handoutMasterId r:id="rId8"/>
  </p:handoutMasterIdLst>
  <p:sldIdLst>
    <p:sldId id="6177" r:id="rId2"/>
    <p:sldId id="258" r:id="rId3"/>
    <p:sldId id="261" r:id="rId4"/>
    <p:sldId id="262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4" userDrawn="1">
          <p15:clr>
            <a:srgbClr val="A4A3A4"/>
          </p15:clr>
        </p15:guide>
        <p15:guide id="2" pos="2547" userDrawn="1">
          <p15:clr>
            <a:srgbClr val="A4A3A4"/>
          </p15:clr>
        </p15:guide>
        <p15:guide id="3" pos="5133" userDrawn="1">
          <p15:clr>
            <a:srgbClr val="A4A3A4"/>
          </p15:clr>
        </p15:guide>
        <p15:guide id="4" orient="horz" pos="13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>
        <p:guide orient="horz" pos="2954"/>
        <p:guide pos="2547"/>
        <p:guide pos="5133"/>
        <p:guide orient="horz" pos="136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some sample bar plot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419-4E4E-85CB-FFE9027552C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419-4E4E-85CB-FFE9027552C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419-4E4E-85CB-FFE9027552C5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19-4E4E-85CB-FFE9027552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55220224"/>
        <c:axId val="1855227424"/>
      </c:barChart>
      <c:catAx>
        <c:axId val="18552202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855227424"/>
        <c:crosses val="autoZero"/>
        <c:auto val="1"/>
        <c:lblAlgn val="ctr"/>
        <c:lblOffset val="100"/>
        <c:noMultiLvlLbl val="0"/>
      </c:catAx>
      <c:valAx>
        <c:axId val="1855227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85522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5C-47D3-A48A-A1257AB9F9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5C-47D3-A48A-A1257AB9F97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D5C-47D3-A48A-A1257AB9F9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89061408"/>
        <c:axId val="1989049408"/>
      </c:lineChart>
      <c:catAx>
        <c:axId val="1989061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989049408"/>
        <c:crosses val="autoZero"/>
        <c:auto val="1"/>
        <c:lblAlgn val="ctr"/>
        <c:lblOffset val="100"/>
        <c:noMultiLvlLbl val="0"/>
      </c:catAx>
      <c:valAx>
        <c:axId val="1989049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989061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AD52D76-F4C6-64FD-329E-31558DC0A4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69887C2-0834-6ABA-6553-D3FA26C01D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A9DCD-BC95-4DDB-A8D4-6001D14A92D0}" type="datetimeFigureOut">
              <a:rPr lang="de-DE" smtClean="0"/>
              <a:t>08.05.2024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4167CE-42AA-12AB-61DD-2A42FE0308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20828B0-D588-132E-CF81-76FFE06C2A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FA759-1CD9-473E-A06F-62EDA8FE93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0679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8CEE6-2AE9-454C-882B-A815689E3103}" type="datetimeFigureOut">
              <a:rPr lang="de-DE" smtClean="0"/>
              <a:t>08.05.2024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B169B-52D9-4357-9A06-4B565A65CE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770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620125"/>
            <a:ext cx="9143999" cy="1331496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Affiliations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017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Cyber-Physical Systems in Mechanical Engineering, TU Berlin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E48-1D37-4D37-9768-37B2A840CF93}" type="slidenum">
              <a:rPr lang="de-DE" smtClean="0"/>
              <a:t>‹Nr.›</a:t>
            </a:fld>
            <a:endParaRPr lang="de-D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3499AD3-95D6-B3B5-F258-6E44F1C18E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23665" y="4094163"/>
            <a:ext cx="9143999" cy="365125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de-DE" dirty="0" err="1"/>
              <a:t>Authors</a:t>
            </a:r>
            <a:r>
              <a:rPr lang="de-DE" dirty="0"/>
              <a:t>, </a:t>
            </a:r>
            <a:r>
              <a:rPr lang="de-DE" dirty="0" err="1"/>
              <a:t>presenting</a:t>
            </a:r>
            <a:r>
              <a:rPr lang="de-DE" dirty="0"/>
              <a:t> </a:t>
            </a:r>
            <a:r>
              <a:rPr lang="de-DE" dirty="0" err="1"/>
              <a:t>person</a:t>
            </a:r>
            <a:r>
              <a:rPr lang="de-DE" dirty="0"/>
              <a:t> </a:t>
            </a:r>
            <a:r>
              <a:rPr lang="de-DE" dirty="0" err="1"/>
              <a:t>underlined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642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017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Cyber-Physical Systems in Mechanical Engineering, TU Berlin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E48-1D37-4D37-9768-37B2A840CF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539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017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Cyber-Physical Systems in Mechanical Engineering, TU Berlin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E48-1D37-4D37-9768-37B2A840CF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184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017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Cyber-Physical Systems in Mechanical Engineering, TU Berlin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E48-1D37-4D37-9768-37B2A840CF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5421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017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Cyber-Physical Systems in Mechanical Engineering, TU Berlin</a:t>
            </a:r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E48-1D37-4D37-9768-37B2A840CF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5336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017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Cyber-Physical Systems in Mechanical Engineering, TU Berlin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E48-1D37-4D37-9768-37B2A840CF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634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017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Cyber-Physical Systems in Mechanical Engineering, TU Berlin</a:t>
            </a: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E48-1D37-4D37-9768-37B2A840CF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3924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017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Cyber-Physical Systems in Mechanical Engineering, TU Berlin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E48-1D37-4D37-9768-37B2A840CF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5328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017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Cyber-Physical Systems in Mechanical Engineering, TU Berlin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E48-1D37-4D37-9768-37B2A840CF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3683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017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Cyber-Physical Systems in Mechanical Engineering, TU Berlin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E48-1D37-4D37-9768-37B2A840CF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224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017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Cyber-Physical Systems in Mechanical Engineering, TU Berlin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E48-1D37-4D37-9768-37B2A840CF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3145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89624"/>
            <a:ext cx="10515600" cy="68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91905"/>
            <a:ext cx="10515600" cy="4885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4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Cyber-Physical Systems in Mechanical Engineering, TU Berlin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474" y="6356350"/>
            <a:ext cx="695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56E48-1D37-4D37-9768-37B2A840CF93}" type="slidenum">
              <a:rPr lang="de-DE" smtClean="0"/>
              <a:t>‹Nr.›</a:t>
            </a:fld>
            <a:endParaRPr lang="de-D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EB14DBA-DF58-6259-E32E-8A9570408CAD}"/>
              </a:ext>
            </a:extLst>
          </p:cNvPr>
          <p:cNvGrpSpPr/>
          <p:nvPr userDrawn="1"/>
        </p:nvGrpSpPr>
        <p:grpSpPr>
          <a:xfrm>
            <a:off x="8153400" y="341627"/>
            <a:ext cx="3768904" cy="626400"/>
            <a:chOff x="8153400" y="293501"/>
            <a:chExt cx="3768904" cy="626400"/>
          </a:xfrm>
        </p:grpSpPr>
        <p:sp>
          <p:nvSpPr>
            <p:cNvPr id="12" name="TextBox 120">
              <a:extLst>
                <a:ext uri="{FF2B5EF4-FFF2-40B4-BE49-F238E27FC236}">
                  <a16:creationId xmlns:a16="http://schemas.microsoft.com/office/drawing/2014/main" id="{7F254F15-7AFF-B548-B347-820E73030575}"/>
                </a:ext>
              </a:extLst>
            </p:cNvPr>
            <p:cNvSpPr txBox="1"/>
            <p:nvPr userDrawn="1"/>
          </p:nvSpPr>
          <p:spPr>
            <a:xfrm>
              <a:off x="8835156" y="306619"/>
              <a:ext cx="3087148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dirty="0">
                  <a:solidFill>
                    <a:srgbClr val="1A3A48"/>
                  </a:solidFill>
                  <a:latin typeface="Helvetica" panose="020B0604020202020204" pitchFamily="34" charset="0"/>
                  <a:cs typeface="Arial" panose="020B0604020202020204" pitchFamily="34" charset="0"/>
                </a:rPr>
                <a:t>Cyber-</a:t>
              </a:r>
              <a:r>
                <a:rPr lang="de-DE" sz="2000" dirty="0" err="1">
                  <a:solidFill>
                    <a:srgbClr val="1A3A48"/>
                  </a:solidFill>
                  <a:latin typeface="Helvetica" panose="020B0604020202020204" pitchFamily="34" charset="0"/>
                  <a:cs typeface="Arial" panose="020B0604020202020204" pitchFamily="34" charset="0"/>
                </a:rPr>
                <a:t>Physical</a:t>
              </a:r>
              <a:r>
                <a:rPr lang="de-DE" sz="2000" dirty="0">
                  <a:solidFill>
                    <a:srgbClr val="1A3A48"/>
                  </a:solidFill>
                  <a:latin typeface="Helvetica" panose="020B0604020202020204" pitchFamily="34" charset="0"/>
                  <a:cs typeface="Arial" panose="020B0604020202020204" pitchFamily="34" charset="0"/>
                </a:rPr>
                <a:t> Systems</a:t>
              </a:r>
            </a:p>
            <a:p>
              <a:r>
                <a:rPr lang="de-DE" sz="1300" dirty="0">
                  <a:solidFill>
                    <a:srgbClr val="1A3A48"/>
                  </a:solidFill>
                  <a:latin typeface="Helvetica" panose="020B0604020202020204" pitchFamily="34" charset="0"/>
                  <a:cs typeface="Arial" panose="020B0604020202020204" pitchFamily="34" charset="0"/>
                </a:rPr>
                <a:t>in </a:t>
              </a:r>
              <a:r>
                <a:rPr lang="de-DE" sz="1300" dirty="0" err="1">
                  <a:solidFill>
                    <a:srgbClr val="1A3A48"/>
                  </a:solidFill>
                  <a:latin typeface="Helvetica" panose="020B0604020202020204" pitchFamily="34" charset="0"/>
                  <a:cs typeface="Arial" panose="020B0604020202020204" pitchFamily="34" charset="0"/>
                </a:rPr>
                <a:t>Mechanical</a:t>
              </a:r>
              <a:r>
                <a:rPr lang="de-DE" sz="1300" dirty="0">
                  <a:solidFill>
                    <a:srgbClr val="1A3A48"/>
                  </a:solidFill>
                  <a:latin typeface="Helvetica" panose="020B0604020202020204" pitchFamily="34" charset="0"/>
                  <a:cs typeface="Arial" panose="020B0604020202020204" pitchFamily="34" charset="0"/>
                </a:rPr>
                <a:t> Engineering TU Berlin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95D5766-45B6-A6C9-CFFE-6CEECBBFCC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153400" y="293501"/>
              <a:ext cx="626400" cy="626400"/>
            </a:xfrm>
            <a:prstGeom prst="rect">
              <a:avLst/>
            </a:prstGeom>
          </p:spPr>
        </p:pic>
      </p:grpSp>
      <p:sp>
        <p:nvSpPr>
          <p:cNvPr id="8" name="Rechteck 7">
            <a:extLst>
              <a:ext uri="{FF2B5EF4-FFF2-40B4-BE49-F238E27FC236}">
                <a16:creationId xmlns:a16="http://schemas.microsoft.com/office/drawing/2014/main" id="{4D25A01C-425B-76CF-46E6-9E3BF9224932}"/>
              </a:ext>
            </a:extLst>
          </p:cNvPr>
          <p:cNvSpPr/>
          <p:nvPr userDrawn="1"/>
        </p:nvSpPr>
        <p:spPr>
          <a:xfrm>
            <a:off x="5105400" y="6356350"/>
            <a:ext cx="542925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 err="1">
                <a:solidFill>
                  <a:schemeClr val="accent6"/>
                </a:solidFill>
              </a:rPr>
              <a:t>Presenting</a:t>
            </a:r>
            <a:r>
              <a:rPr lang="de-DE" sz="1100" b="1" dirty="0">
                <a:solidFill>
                  <a:schemeClr val="accent6"/>
                </a:solidFill>
              </a:rPr>
              <a:t> Person </a:t>
            </a:r>
            <a:r>
              <a:rPr lang="de-DE" sz="1100" dirty="0">
                <a:solidFill>
                  <a:schemeClr val="accent6"/>
                </a:solidFill>
              </a:rPr>
              <a:t>|  presenting.person@tu-berlin.de |  </a:t>
            </a:r>
            <a:r>
              <a:rPr lang="de-DE" sz="1100" dirty="0" err="1">
                <a:solidFill>
                  <a:schemeClr val="accent6"/>
                </a:solidFill>
              </a:rPr>
              <a:t>tu.berlin</a:t>
            </a:r>
            <a:r>
              <a:rPr lang="de-DE" sz="1100" dirty="0">
                <a:solidFill>
                  <a:schemeClr val="accent6"/>
                </a:solidFill>
              </a:rPr>
              <a:t>/</a:t>
            </a:r>
            <a:r>
              <a:rPr lang="de-DE" sz="1100" dirty="0" err="1">
                <a:solidFill>
                  <a:schemeClr val="accent6"/>
                </a:solidFill>
              </a:rPr>
              <a:t>cpsme</a:t>
            </a:r>
            <a:endParaRPr lang="de-DE" sz="11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87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F6336-46B5-525C-905D-40E3C26559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solidFill>
                  <a:schemeClr val="tx2"/>
                </a:solidFill>
              </a:rPr>
              <a:t>CPS-ME Master Slide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49BC5E5-353C-FC96-9544-A2952DD3D4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Cyber-</a:t>
            </a:r>
            <a:r>
              <a:rPr lang="de-DE" dirty="0" err="1"/>
              <a:t>Physical</a:t>
            </a:r>
            <a:r>
              <a:rPr lang="de-DE" dirty="0"/>
              <a:t> Systems in </a:t>
            </a:r>
            <a:r>
              <a:rPr lang="de-DE" dirty="0" err="1"/>
              <a:t>Mechanical</a:t>
            </a:r>
            <a:r>
              <a:rPr lang="de-DE" dirty="0"/>
              <a:t> Engineering, Technische Universität Berlin</a:t>
            </a:r>
          </a:p>
          <a:p>
            <a:r>
              <a:rPr lang="de-DE" dirty="0"/>
              <a:t>Department X, University Y</a:t>
            </a:r>
          </a:p>
          <a:p>
            <a:r>
              <a:rPr lang="de-DE" dirty="0"/>
              <a:t>Department Y, University Z</a:t>
            </a:r>
          </a:p>
          <a:p>
            <a:endParaRPr lang="de-D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D0D9AB-E69A-1FCF-8E2C-EEEC13C766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err="1"/>
              <a:t>Presenting</a:t>
            </a:r>
            <a:r>
              <a:rPr lang="de-DE" dirty="0"/>
              <a:t> Person, Co-</a:t>
            </a:r>
            <a:r>
              <a:rPr lang="de-DE" dirty="0" err="1"/>
              <a:t>Author</a:t>
            </a:r>
            <a:r>
              <a:rPr lang="de-DE" dirty="0"/>
              <a:t> 1, Co-</a:t>
            </a:r>
            <a:r>
              <a:rPr lang="de-DE" dirty="0" err="1"/>
              <a:t>Author</a:t>
            </a:r>
            <a:r>
              <a:rPr lang="de-DE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153166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63664-E6EE-436B-1224-E8AEF33B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Some</a:t>
            </a:r>
            <a:r>
              <a:rPr lang="de-DE" dirty="0"/>
              <a:t> Title </a:t>
            </a:r>
            <a:r>
              <a:rPr lang="de-DE" dirty="0" err="1"/>
              <a:t>with</a:t>
            </a:r>
            <a:r>
              <a:rPr lang="de-DE" dirty="0"/>
              <a:t> Capital Letters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3E0A35-15E8-4088-9459-41DDC433B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905"/>
            <a:ext cx="4286250" cy="4885058"/>
          </a:xfrm>
        </p:spPr>
        <p:txBody>
          <a:bodyPr/>
          <a:lstStyle/>
          <a:p>
            <a:pPr marL="0" indent="0" algn="just">
              <a:buNone/>
            </a:pPr>
            <a:r>
              <a:rPr lang="de-DE" dirty="0" err="1">
                <a:latin typeface="Helvetica" panose="020B0604020202020204" pitchFamily="34" charset="0"/>
              </a:rPr>
              <a:t>Lorem</a:t>
            </a:r>
            <a:r>
              <a:rPr lang="de-DE" dirty="0">
                <a:latin typeface="Helvetica" panose="020B0604020202020204" pitchFamily="34" charset="0"/>
              </a:rPr>
              <a:t> </a:t>
            </a:r>
            <a:r>
              <a:rPr lang="de-DE" dirty="0" err="1">
                <a:latin typeface="Helvetica" panose="020B0604020202020204" pitchFamily="34" charset="0"/>
              </a:rPr>
              <a:t>ipsum</a:t>
            </a:r>
            <a:r>
              <a:rPr lang="de-DE" dirty="0">
                <a:latin typeface="Helvetica" panose="020B0604020202020204" pitchFamily="34" charset="0"/>
              </a:rPr>
              <a:t> </a:t>
            </a:r>
            <a:r>
              <a:rPr lang="de-DE" dirty="0" err="1">
                <a:latin typeface="Helvetica" panose="020B0604020202020204" pitchFamily="34" charset="0"/>
              </a:rPr>
              <a:t>dolor</a:t>
            </a:r>
            <a:r>
              <a:rPr lang="de-DE" dirty="0">
                <a:latin typeface="Helvetica" panose="020B0604020202020204" pitchFamily="34" charset="0"/>
              </a:rPr>
              <a:t> </a:t>
            </a:r>
            <a:r>
              <a:rPr lang="de-DE" dirty="0" err="1">
                <a:latin typeface="Helvetica" panose="020B0604020202020204" pitchFamily="34" charset="0"/>
              </a:rPr>
              <a:t>sit</a:t>
            </a:r>
            <a:r>
              <a:rPr lang="de-DE" dirty="0">
                <a:latin typeface="Helvetica" panose="020B0604020202020204" pitchFamily="34" charset="0"/>
              </a:rPr>
              <a:t> </a:t>
            </a:r>
            <a:r>
              <a:rPr lang="de-DE" dirty="0" err="1">
                <a:latin typeface="Helvetica" panose="020B0604020202020204" pitchFamily="34" charset="0"/>
              </a:rPr>
              <a:t>amet</a:t>
            </a:r>
            <a:r>
              <a:rPr lang="de-DE" dirty="0">
                <a:latin typeface="Helvetica" panose="020B0604020202020204" pitchFamily="34" charset="0"/>
              </a:rPr>
              <a:t>, </a:t>
            </a:r>
            <a:r>
              <a:rPr lang="de-DE" dirty="0" err="1">
                <a:latin typeface="Helvetica" panose="020B0604020202020204" pitchFamily="34" charset="0"/>
              </a:rPr>
              <a:t>consetetur</a:t>
            </a:r>
            <a:r>
              <a:rPr lang="de-DE" dirty="0">
                <a:latin typeface="Helvetica" panose="020B0604020202020204" pitchFamily="34" charset="0"/>
              </a:rPr>
              <a:t> </a:t>
            </a:r>
            <a:r>
              <a:rPr lang="de-DE" dirty="0" err="1">
                <a:latin typeface="Helvetica" panose="020B0604020202020204" pitchFamily="34" charset="0"/>
              </a:rPr>
              <a:t>sadipscing</a:t>
            </a:r>
            <a:r>
              <a:rPr lang="de-DE" dirty="0">
                <a:latin typeface="Helvetica" panose="020B0604020202020204" pitchFamily="34" charset="0"/>
              </a:rPr>
              <a:t> </a:t>
            </a:r>
            <a:r>
              <a:rPr lang="de-DE" dirty="0" err="1">
                <a:latin typeface="Helvetica" panose="020B0604020202020204" pitchFamily="34" charset="0"/>
              </a:rPr>
              <a:t>elitr</a:t>
            </a:r>
            <a:r>
              <a:rPr lang="de-DE" dirty="0">
                <a:latin typeface="Helvetica" panose="020B0604020202020204" pitchFamily="34" charset="0"/>
              </a:rPr>
              <a:t>, sed </a:t>
            </a:r>
            <a:r>
              <a:rPr lang="de-DE" dirty="0" err="1">
                <a:latin typeface="Helvetica" panose="020B0604020202020204" pitchFamily="34" charset="0"/>
              </a:rPr>
              <a:t>diam</a:t>
            </a:r>
            <a:r>
              <a:rPr lang="de-DE" dirty="0">
                <a:latin typeface="Helvetica" panose="020B0604020202020204" pitchFamily="34" charset="0"/>
              </a:rPr>
              <a:t> </a:t>
            </a:r>
            <a:r>
              <a:rPr lang="de-DE" dirty="0" err="1">
                <a:latin typeface="Helvetica" panose="020B0604020202020204" pitchFamily="34" charset="0"/>
              </a:rPr>
              <a:t>nonumy</a:t>
            </a:r>
            <a:r>
              <a:rPr lang="de-DE" dirty="0">
                <a:latin typeface="Helvetica" panose="020B0604020202020204" pitchFamily="34" charset="0"/>
              </a:rPr>
              <a:t> </a:t>
            </a:r>
            <a:r>
              <a:rPr lang="de-DE" dirty="0" err="1">
                <a:latin typeface="Helvetica" panose="020B0604020202020204" pitchFamily="34" charset="0"/>
              </a:rPr>
              <a:t>eirmod</a:t>
            </a:r>
            <a:r>
              <a:rPr lang="de-DE" dirty="0">
                <a:latin typeface="Helvetica" panose="020B0604020202020204" pitchFamily="34" charset="0"/>
              </a:rPr>
              <a:t> </a:t>
            </a:r>
            <a:r>
              <a:rPr lang="de-DE" dirty="0" err="1">
                <a:latin typeface="Helvetica" panose="020B0604020202020204" pitchFamily="34" charset="0"/>
              </a:rPr>
              <a:t>tempor</a:t>
            </a:r>
            <a:r>
              <a:rPr lang="de-DE" dirty="0">
                <a:latin typeface="Helvetica" panose="020B0604020202020204" pitchFamily="34" charset="0"/>
              </a:rPr>
              <a:t> </a:t>
            </a:r>
            <a:r>
              <a:rPr lang="de-DE" dirty="0" err="1">
                <a:latin typeface="Helvetica" panose="020B0604020202020204" pitchFamily="34" charset="0"/>
              </a:rPr>
              <a:t>invidunt</a:t>
            </a:r>
            <a:r>
              <a:rPr lang="de-DE" dirty="0">
                <a:latin typeface="Helvetica" panose="020B0604020202020204" pitchFamily="34" charset="0"/>
              </a:rPr>
              <a:t> </a:t>
            </a:r>
            <a:r>
              <a:rPr lang="de-DE" dirty="0" err="1">
                <a:latin typeface="Helvetica" panose="020B0604020202020204" pitchFamily="34" charset="0"/>
              </a:rPr>
              <a:t>ut</a:t>
            </a:r>
            <a:r>
              <a:rPr lang="de-DE" dirty="0">
                <a:latin typeface="Helvetica" panose="020B0604020202020204" pitchFamily="34" charset="0"/>
              </a:rPr>
              <a:t> </a:t>
            </a:r>
            <a:r>
              <a:rPr lang="de-DE" dirty="0" err="1">
                <a:latin typeface="Helvetica" panose="020B0604020202020204" pitchFamily="34" charset="0"/>
              </a:rPr>
              <a:t>labore</a:t>
            </a:r>
            <a:r>
              <a:rPr lang="de-DE" dirty="0">
                <a:latin typeface="Helvetica" panose="020B0604020202020204" pitchFamily="34" charset="0"/>
              </a:rPr>
              <a:t> et </a:t>
            </a:r>
            <a:r>
              <a:rPr lang="de-DE" dirty="0" err="1">
                <a:latin typeface="Helvetica" panose="020B0604020202020204" pitchFamily="34" charset="0"/>
              </a:rPr>
              <a:t>dolore</a:t>
            </a:r>
            <a:r>
              <a:rPr lang="de-DE" dirty="0">
                <a:latin typeface="Helvetica" panose="020B0604020202020204" pitchFamily="34" charset="0"/>
              </a:rPr>
              <a:t> magna </a:t>
            </a:r>
            <a:r>
              <a:rPr lang="de-DE" dirty="0" err="1">
                <a:latin typeface="Helvetica" panose="020B0604020202020204" pitchFamily="34" charset="0"/>
              </a:rPr>
              <a:t>aliquyam</a:t>
            </a:r>
            <a:r>
              <a:rPr lang="de-DE" dirty="0">
                <a:latin typeface="Helvetica" panose="020B0604020202020204" pitchFamily="34" charset="0"/>
              </a:rPr>
              <a:t> erat, sed </a:t>
            </a:r>
            <a:r>
              <a:rPr lang="de-DE" dirty="0" err="1">
                <a:latin typeface="Helvetica" panose="020B0604020202020204" pitchFamily="34" charset="0"/>
              </a:rPr>
              <a:t>diam</a:t>
            </a:r>
            <a:r>
              <a:rPr lang="de-DE" dirty="0">
                <a:latin typeface="Helvetica" panose="020B0604020202020204" pitchFamily="34" charset="0"/>
              </a:rPr>
              <a:t> </a:t>
            </a:r>
            <a:r>
              <a:rPr lang="de-DE" dirty="0" err="1">
                <a:latin typeface="Helvetica" panose="020B0604020202020204" pitchFamily="34" charset="0"/>
              </a:rPr>
              <a:t>voluptua</a:t>
            </a:r>
            <a:r>
              <a:rPr lang="de-DE" dirty="0">
                <a:latin typeface="Helvetica" panose="020B0604020202020204" pitchFamily="34" charset="0"/>
              </a:rPr>
              <a:t>. At </a:t>
            </a:r>
            <a:r>
              <a:rPr lang="de-DE" dirty="0" err="1">
                <a:latin typeface="Helvetica" panose="020B0604020202020204" pitchFamily="34" charset="0"/>
              </a:rPr>
              <a:t>vero</a:t>
            </a:r>
            <a:r>
              <a:rPr lang="de-DE" dirty="0">
                <a:latin typeface="Helvetica" panose="020B0604020202020204" pitchFamily="34" charset="0"/>
              </a:rPr>
              <a:t> </a:t>
            </a:r>
            <a:r>
              <a:rPr lang="de-DE" dirty="0" err="1">
                <a:latin typeface="Helvetica" panose="020B0604020202020204" pitchFamily="34" charset="0"/>
              </a:rPr>
              <a:t>eos</a:t>
            </a:r>
            <a:r>
              <a:rPr lang="de-DE" dirty="0">
                <a:latin typeface="Helvetica" panose="020B0604020202020204" pitchFamily="34" charset="0"/>
              </a:rPr>
              <a:t> et </a:t>
            </a:r>
            <a:r>
              <a:rPr lang="de-DE" dirty="0" err="1">
                <a:latin typeface="Helvetica" panose="020B0604020202020204" pitchFamily="34" charset="0"/>
              </a:rPr>
              <a:t>accusam</a:t>
            </a:r>
            <a:r>
              <a:rPr lang="de-DE" dirty="0">
                <a:latin typeface="Helvetica" panose="020B0604020202020204" pitchFamily="34" charset="0"/>
              </a:rPr>
              <a:t> et.</a:t>
            </a:r>
          </a:p>
          <a:p>
            <a:pPr algn="just"/>
            <a:r>
              <a:rPr lang="de-DE" dirty="0" err="1">
                <a:solidFill>
                  <a:srgbClr val="323232"/>
                </a:solidFill>
                <a:latin typeface="Helvetica" panose="020B0604020202020204" pitchFamily="34" charset="0"/>
              </a:rPr>
              <a:t>Some</a:t>
            </a:r>
            <a:r>
              <a:rPr lang="de-DE" dirty="0">
                <a:solidFill>
                  <a:srgbClr val="323232"/>
                </a:solidFill>
                <a:latin typeface="Helvetica" panose="020B0604020202020204" pitchFamily="34" charset="0"/>
              </a:rPr>
              <a:t> </a:t>
            </a:r>
            <a:r>
              <a:rPr lang="de-DE" dirty="0" err="1">
                <a:solidFill>
                  <a:schemeClr val="accent1"/>
                </a:solidFill>
                <a:latin typeface="Helvetica" panose="020B0604020202020204" pitchFamily="34" charset="0"/>
              </a:rPr>
              <a:t>highlights</a:t>
            </a:r>
            <a:r>
              <a:rPr lang="de-DE" dirty="0">
                <a:solidFill>
                  <a:schemeClr val="accent1"/>
                </a:solidFill>
                <a:latin typeface="Helvetica" panose="020B0604020202020204" pitchFamily="34" charset="0"/>
              </a:rPr>
              <a:t> in </a:t>
            </a:r>
            <a:r>
              <a:rPr lang="de-DE" dirty="0" err="1">
                <a:solidFill>
                  <a:schemeClr val="accent1"/>
                </a:solidFill>
                <a:latin typeface="Helvetica" panose="020B0604020202020204" pitchFamily="34" charset="0"/>
              </a:rPr>
              <a:t>red</a:t>
            </a:r>
            <a:r>
              <a:rPr lang="de-DE" dirty="0">
                <a:solidFill>
                  <a:schemeClr val="accent1"/>
                </a:solidFill>
                <a:latin typeface="Helvetica" panose="020B0604020202020204" pitchFamily="34" charset="0"/>
              </a:rPr>
              <a:t> </a:t>
            </a:r>
            <a:r>
              <a:rPr lang="de-DE" dirty="0" err="1">
                <a:solidFill>
                  <a:schemeClr val="accent2"/>
                </a:solidFill>
                <a:latin typeface="Helvetica" panose="020B0604020202020204" pitchFamily="34" charset="0"/>
              </a:rPr>
              <a:t>or</a:t>
            </a:r>
            <a:r>
              <a:rPr lang="de-DE" dirty="0">
                <a:solidFill>
                  <a:schemeClr val="accent2"/>
                </a:solidFill>
                <a:latin typeface="Helvetica" panose="020B0604020202020204" pitchFamily="34" charset="0"/>
              </a:rPr>
              <a:t> </a:t>
            </a:r>
            <a:r>
              <a:rPr lang="de-DE" dirty="0" err="1">
                <a:solidFill>
                  <a:schemeClr val="accent2"/>
                </a:solidFill>
                <a:latin typeface="Helvetica" panose="020B0604020202020204" pitchFamily="34" charset="0"/>
              </a:rPr>
              <a:t>green</a:t>
            </a:r>
            <a:r>
              <a:rPr lang="de-DE" dirty="0">
                <a:solidFill>
                  <a:schemeClr val="accent1"/>
                </a:solidFill>
                <a:latin typeface="Helvetica" panose="020B0604020202020204" pitchFamily="34" charset="0"/>
              </a:rPr>
              <a:t> </a:t>
            </a:r>
            <a:r>
              <a:rPr lang="de-DE" dirty="0" err="1">
                <a:solidFill>
                  <a:srgbClr val="323232"/>
                </a:solidFill>
                <a:latin typeface="Helvetica" panose="020B0604020202020204" pitchFamily="34" charset="0"/>
              </a:rPr>
              <a:t>color</a:t>
            </a:r>
            <a:endParaRPr lang="de-DE" dirty="0">
              <a:solidFill>
                <a:srgbClr val="323232"/>
              </a:solidFill>
              <a:latin typeface="Helvetica" panose="020B0604020202020204" pitchFamily="34" charset="0"/>
            </a:endParaRPr>
          </a:p>
          <a:p>
            <a:pPr algn="just"/>
            <a:r>
              <a:rPr lang="de-DE" dirty="0">
                <a:solidFill>
                  <a:srgbClr val="323232"/>
                </a:solidFill>
                <a:latin typeface="Helvetica" panose="020B0604020202020204" pitchFamily="34" charset="0"/>
              </a:rPr>
              <a:t>Font type </a:t>
            </a:r>
            <a:r>
              <a:rPr lang="de-DE" dirty="0" err="1">
                <a:solidFill>
                  <a:srgbClr val="323232"/>
                </a:solidFill>
                <a:latin typeface="Helvetica" panose="020B0604020202020204" pitchFamily="34" charset="0"/>
              </a:rPr>
              <a:t>is</a:t>
            </a:r>
            <a:r>
              <a:rPr lang="de-DE" dirty="0">
                <a:solidFill>
                  <a:srgbClr val="323232"/>
                </a:solidFill>
                <a:latin typeface="Helvetica" panose="020B0604020202020204" pitchFamily="34" charset="0"/>
              </a:rPr>
              <a:t> </a:t>
            </a:r>
            <a:r>
              <a:rPr lang="de-DE" b="1" dirty="0">
                <a:solidFill>
                  <a:schemeClr val="tx2"/>
                </a:solidFill>
                <a:latin typeface="Helvetica" panose="020B0604020202020204" pitchFamily="34" charset="0"/>
              </a:rPr>
              <a:t>Helvetica</a:t>
            </a:r>
          </a:p>
          <a:p>
            <a:pPr algn="just"/>
            <a:endParaRPr lang="de-DE" b="1" dirty="0">
              <a:solidFill>
                <a:schemeClr val="tx2"/>
              </a:solidFill>
              <a:latin typeface="Helvetica" panose="020B0604020202020204" pitchFamily="34" charset="0"/>
            </a:endParaRPr>
          </a:p>
          <a:p>
            <a:pPr algn="just"/>
            <a:endParaRPr lang="de-DE" b="1" dirty="0">
              <a:solidFill>
                <a:schemeClr val="tx2"/>
              </a:solidFill>
              <a:latin typeface="Helvetica" panose="020B0604020202020204" pitchFamily="34" charset="0"/>
            </a:endParaRPr>
          </a:p>
          <a:p>
            <a:pPr algn="just"/>
            <a:endParaRPr lang="de-DE" b="1" dirty="0">
              <a:solidFill>
                <a:schemeClr val="tx2"/>
              </a:solidFill>
              <a:latin typeface="Helvetica" panose="020B0604020202020204" pitchFamily="34" charset="0"/>
            </a:endParaRPr>
          </a:p>
          <a:p>
            <a:pPr algn="just"/>
            <a:endParaRPr lang="de-DE" b="1" dirty="0">
              <a:latin typeface="Helvetica" panose="020B0604020202020204" pitchFamily="34" charset="0"/>
            </a:endParaRPr>
          </a:p>
          <a:p>
            <a:pPr marL="0" indent="0" algn="just">
              <a:buNone/>
            </a:pPr>
            <a:r>
              <a:rPr lang="de-DE" b="1" dirty="0">
                <a:latin typeface="Helvetica" panose="020B0604020202020204" pitchFamily="34" charset="0"/>
              </a:rPr>
              <a:t>Color </a:t>
            </a:r>
            <a:r>
              <a:rPr lang="de-DE" b="1" dirty="0" err="1">
                <a:latin typeface="Helvetica" panose="020B0604020202020204" pitchFamily="34" charset="0"/>
              </a:rPr>
              <a:t>map</a:t>
            </a:r>
            <a:r>
              <a:rPr lang="de-DE" b="1" dirty="0">
                <a:latin typeface="Helvetica" panose="020B0604020202020204" pitchFamily="34" charset="0"/>
              </a:rPr>
              <a:t>:</a:t>
            </a:r>
          </a:p>
          <a:p>
            <a:pPr algn="just"/>
            <a:endParaRPr lang="de-DE" dirty="0"/>
          </a:p>
        </p:txBody>
      </p:sp>
      <p:sp>
        <p:nvSpPr>
          <p:cNvPr id="4" name="TextBox 45">
            <a:extLst>
              <a:ext uri="{FF2B5EF4-FFF2-40B4-BE49-F238E27FC236}">
                <a16:creationId xmlns:a16="http://schemas.microsoft.com/office/drawing/2014/main" id="{2CF9DCCE-F10F-9476-BE78-63C3F06863EC}"/>
              </a:ext>
            </a:extLst>
          </p:cNvPr>
          <p:cNvSpPr txBox="1"/>
          <p:nvPr/>
        </p:nvSpPr>
        <p:spPr>
          <a:xfrm>
            <a:off x="6807388" y="3611508"/>
            <a:ext cx="2148934" cy="1077218"/>
          </a:xfrm>
          <a:prstGeom prst="rect">
            <a:avLst/>
          </a:prstGeom>
          <a:solidFill>
            <a:srgbClr val="E1E1E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rgbClr val="323232"/>
                </a:solidFill>
                <a:latin typeface="Helvetica" panose="020B0604020202020204" pitchFamily="34" charset="0"/>
              </a:rPr>
              <a:t>Highlight box 1</a:t>
            </a:r>
          </a:p>
          <a:p>
            <a:endParaRPr lang="de-DE" sz="1600" b="1" dirty="0">
              <a:solidFill>
                <a:srgbClr val="323232"/>
              </a:solidFill>
              <a:latin typeface="Helvetica" panose="020B0604020202020204" pitchFamily="34" charset="0"/>
            </a:endParaRPr>
          </a:p>
          <a:p>
            <a:r>
              <a:rPr lang="de-DE" sz="1600" dirty="0" err="1">
                <a:solidFill>
                  <a:srgbClr val="323232"/>
                </a:solidFill>
                <a:latin typeface="Helvetica" panose="020B0604020202020204" pitchFamily="34" charset="0"/>
              </a:rPr>
              <a:t>font</a:t>
            </a:r>
            <a:r>
              <a:rPr lang="de-DE" sz="1600" dirty="0">
                <a:solidFill>
                  <a:srgbClr val="323232"/>
                </a:solidFill>
                <a:latin typeface="Helvetica" panose="020B0604020202020204" pitchFamily="34" charset="0"/>
              </a:rPr>
              <a:t>: 	</a:t>
            </a:r>
            <a:r>
              <a:rPr lang="de-DE" sz="1600" dirty="0">
                <a:latin typeface="Helvetica" panose="020B0604020202020204" pitchFamily="34" charset="0"/>
              </a:rPr>
              <a:t>#323232</a:t>
            </a:r>
            <a:endParaRPr lang="de-DE" sz="1600" dirty="0">
              <a:solidFill>
                <a:srgbClr val="323232"/>
              </a:solidFill>
              <a:latin typeface="Helvetica" panose="020B0604020202020204" pitchFamily="34" charset="0"/>
            </a:endParaRPr>
          </a:p>
          <a:p>
            <a:r>
              <a:rPr lang="de-DE" sz="1600" dirty="0" err="1">
                <a:solidFill>
                  <a:srgbClr val="323232"/>
                </a:solidFill>
                <a:latin typeface="Helvetica" panose="020B0604020202020204" pitchFamily="34" charset="0"/>
              </a:rPr>
              <a:t>fill</a:t>
            </a:r>
            <a:r>
              <a:rPr lang="de-DE" sz="1600" dirty="0">
                <a:solidFill>
                  <a:srgbClr val="323232"/>
                </a:solidFill>
                <a:latin typeface="Helvetica" panose="020B0604020202020204" pitchFamily="34" charset="0"/>
              </a:rPr>
              <a:t>: 	</a:t>
            </a:r>
            <a:r>
              <a:rPr lang="de-DE" sz="1600" dirty="0">
                <a:latin typeface="Helvetica" panose="020B0604020202020204" pitchFamily="34" charset="0"/>
              </a:rPr>
              <a:t>#E1E1E1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9585214-8CD7-3BBB-BF5F-6D88A3FD0DE7}"/>
              </a:ext>
            </a:extLst>
          </p:cNvPr>
          <p:cNvSpPr txBox="1"/>
          <p:nvPr/>
        </p:nvSpPr>
        <p:spPr>
          <a:xfrm>
            <a:off x="9204866" y="3611508"/>
            <a:ext cx="2148934" cy="1077218"/>
          </a:xfrm>
          <a:prstGeom prst="rect">
            <a:avLst/>
          </a:prstGeom>
          <a:solidFill>
            <a:srgbClr val="646464"/>
          </a:solidFill>
          <a:effectLst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rgbClr val="FAFAFA"/>
                </a:solidFill>
                <a:latin typeface="Helvetica" panose="020B0604020202020204" pitchFamily="34" charset="0"/>
              </a:rPr>
              <a:t>Highlight box 2</a:t>
            </a:r>
          </a:p>
          <a:p>
            <a:endParaRPr lang="de-DE" sz="1600" dirty="0">
              <a:solidFill>
                <a:srgbClr val="FAFAFA"/>
              </a:solidFill>
              <a:latin typeface="Helvetica" panose="020B0604020202020204" pitchFamily="34" charset="0"/>
            </a:endParaRPr>
          </a:p>
          <a:p>
            <a:r>
              <a:rPr lang="de-DE" sz="1600" dirty="0" err="1">
                <a:solidFill>
                  <a:srgbClr val="FAFAFA"/>
                </a:solidFill>
                <a:latin typeface="Helvetica" panose="020B0604020202020204" pitchFamily="34" charset="0"/>
              </a:rPr>
              <a:t>font</a:t>
            </a:r>
            <a:r>
              <a:rPr lang="de-DE" sz="1600" dirty="0">
                <a:solidFill>
                  <a:srgbClr val="FAFAFA"/>
                </a:solidFill>
                <a:latin typeface="Helvetica" panose="020B0604020202020204" pitchFamily="34" charset="0"/>
              </a:rPr>
              <a:t>: 	#FAFAFA</a:t>
            </a:r>
          </a:p>
          <a:p>
            <a:r>
              <a:rPr lang="de-DE" sz="1600" dirty="0" err="1">
                <a:solidFill>
                  <a:srgbClr val="FAFAFA"/>
                </a:solidFill>
                <a:latin typeface="Helvetica" panose="020B0604020202020204" pitchFamily="34" charset="0"/>
              </a:rPr>
              <a:t>fill</a:t>
            </a:r>
            <a:r>
              <a:rPr lang="de-DE" sz="1600" dirty="0">
                <a:solidFill>
                  <a:srgbClr val="FAFAFA"/>
                </a:solidFill>
                <a:latin typeface="Helvetica" panose="020B0604020202020204" pitchFamily="34" charset="0"/>
              </a:rPr>
              <a:t>: 	#646464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F9F2AB5-B28A-5EAD-D74C-74E0FA7AB7E1}"/>
              </a:ext>
            </a:extLst>
          </p:cNvPr>
          <p:cNvSpPr/>
          <p:nvPr/>
        </p:nvSpPr>
        <p:spPr>
          <a:xfrm>
            <a:off x="6666738" y="5113160"/>
            <a:ext cx="541020" cy="905870"/>
          </a:xfrm>
          <a:prstGeom prst="rect">
            <a:avLst/>
          </a:prstGeom>
          <a:solidFill>
            <a:srgbClr val="E639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#E63946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420AF64-C87E-E675-CF9B-CF0F2B3A55E4}"/>
              </a:ext>
            </a:extLst>
          </p:cNvPr>
          <p:cNvSpPr/>
          <p:nvPr/>
        </p:nvSpPr>
        <p:spPr>
          <a:xfrm>
            <a:off x="8048752" y="5113160"/>
            <a:ext cx="541020" cy="905870"/>
          </a:xfrm>
          <a:prstGeom prst="rect">
            <a:avLst/>
          </a:prstGeom>
          <a:solidFill>
            <a:srgbClr val="A8DAD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>
                <a:latin typeface="Helvetica" panose="020B0604020202020204" pitchFamily="34" charset="0"/>
              </a:rPr>
              <a:t>#A8DADC</a:t>
            </a:r>
            <a:endParaRPr lang="de-DE" sz="1200" dirty="0">
              <a:latin typeface="Helvetica" panose="020B0604020202020204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275B34F-070E-2AEC-17D0-4A21EAE94722}"/>
              </a:ext>
            </a:extLst>
          </p:cNvPr>
          <p:cNvSpPr/>
          <p:nvPr/>
        </p:nvSpPr>
        <p:spPr>
          <a:xfrm>
            <a:off x="8739759" y="5113160"/>
            <a:ext cx="541020" cy="905870"/>
          </a:xfrm>
          <a:prstGeom prst="rect">
            <a:avLst/>
          </a:prstGeom>
          <a:solidFill>
            <a:srgbClr val="457B9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#457B9D</a:t>
            </a:r>
          </a:p>
        </p:txBody>
      </p:sp>
      <p:sp>
        <p:nvSpPr>
          <p:cNvPr id="9" name="Rechteck 37">
            <a:extLst>
              <a:ext uri="{FF2B5EF4-FFF2-40B4-BE49-F238E27FC236}">
                <a16:creationId xmlns:a16="http://schemas.microsoft.com/office/drawing/2014/main" id="{B3BFF4DE-E40B-84D1-719D-8D5592E2CEE1}"/>
              </a:ext>
            </a:extLst>
          </p:cNvPr>
          <p:cNvSpPr/>
          <p:nvPr/>
        </p:nvSpPr>
        <p:spPr>
          <a:xfrm>
            <a:off x="10121773" y="5122955"/>
            <a:ext cx="541020" cy="905870"/>
          </a:xfrm>
          <a:prstGeom prst="rect">
            <a:avLst/>
          </a:prstGeom>
          <a:solidFill>
            <a:srgbClr val="008B9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#008b9a</a:t>
            </a:r>
          </a:p>
        </p:txBody>
      </p:sp>
      <p:sp>
        <p:nvSpPr>
          <p:cNvPr id="10" name="Rechteck 36">
            <a:extLst>
              <a:ext uri="{FF2B5EF4-FFF2-40B4-BE49-F238E27FC236}">
                <a16:creationId xmlns:a16="http://schemas.microsoft.com/office/drawing/2014/main" id="{AF6F0271-3897-DD56-E7BD-F880BEFC1D3C}"/>
              </a:ext>
            </a:extLst>
          </p:cNvPr>
          <p:cNvSpPr/>
          <p:nvPr/>
        </p:nvSpPr>
        <p:spPr>
          <a:xfrm>
            <a:off x="7357745" y="5113160"/>
            <a:ext cx="541020" cy="905870"/>
          </a:xfrm>
          <a:prstGeom prst="rect">
            <a:avLst/>
          </a:prstGeom>
          <a:solidFill>
            <a:srgbClr val="F1FAE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solidFill>
                  <a:srgbClr val="323232"/>
                </a:solidFill>
                <a:latin typeface="Helvetica" panose="020B0604020202020204" pitchFamily="34" charset="0"/>
              </a:rPr>
              <a:t>#F1FAEE</a:t>
            </a:r>
          </a:p>
        </p:txBody>
      </p:sp>
      <p:sp>
        <p:nvSpPr>
          <p:cNvPr id="11" name="Rechteck 37">
            <a:extLst>
              <a:ext uri="{FF2B5EF4-FFF2-40B4-BE49-F238E27FC236}">
                <a16:creationId xmlns:a16="http://schemas.microsoft.com/office/drawing/2014/main" id="{E3D63D0A-75B1-761A-95D6-6A6DE17A8577}"/>
              </a:ext>
            </a:extLst>
          </p:cNvPr>
          <p:cNvSpPr/>
          <p:nvPr/>
        </p:nvSpPr>
        <p:spPr>
          <a:xfrm>
            <a:off x="9430766" y="5122955"/>
            <a:ext cx="541020" cy="905870"/>
          </a:xfrm>
          <a:prstGeom prst="rect">
            <a:avLst/>
          </a:prstGeom>
          <a:solidFill>
            <a:srgbClr val="1D355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#1D3557</a:t>
            </a:r>
          </a:p>
        </p:txBody>
      </p:sp>
      <p:sp>
        <p:nvSpPr>
          <p:cNvPr id="12" name="Rechteck 36">
            <a:extLst>
              <a:ext uri="{FF2B5EF4-FFF2-40B4-BE49-F238E27FC236}">
                <a16:creationId xmlns:a16="http://schemas.microsoft.com/office/drawing/2014/main" id="{556D12EB-3E5B-4ED7-6CC4-51610996C09F}"/>
              </a:ext>
            </a:extLst>
          </p:cNvPr>
          <p:cNvSpPr/>
          <p:nvPr/>
        </p:nvSpPr>
        <p:spPr>
          <a:xfrm>
            <a:off x="3211703" y="5113160"/>
            <a:ext cx="541020" cy="905870"/>
          </a:xfrm>
          <a:prstGeom prst="rect">
            <a:avLst/>
          </a:prstGeom>
          <a:solidFill>
            <a:srgbClr val="E1E1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solidFill>
                  <a:srgbClr val="FAFAFA"/>
                </a:solidFill>
                <a:latin typeface="Helvetica" panose="020B0604020202020204" pitchFamily="34" charset="0"/>
              </a:rPr>
              <a:t>#E1E1E1</a:t>
            </a:r>
          </a:p>
        </p:txBody>
      </p:sp>
      <p:sp>
        <p:nvSpPr>
          <p:cNvPr id="13" name="Rechteck 36">
            <a:extLst>
              <a:ext uri="{FF2B5EF4-FFF2-40B4-BE49-F238E27FC236}">
                <a16:creationId xmlns:a16="http://schemas.microsoft.com/office/drawing/2014/main" id="{EF600551-D8C7-4F80-3CA4-B71EEA5662D4}"/>
              </a:ext>
            </a:extLst>
          </p:cNvPr>
          <p:cNvSpPr/>
          <p:nvPr/>
        </p:nvSpPr>
        <p:spPr>
          <a:xfrm>
            <a:off x="3902710" y="5113160"/>
            <a:ext cx="541020" cy="905870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#C8C8C8</a:t>
            </a:r>
          </a:p>
        </p:txBody>
      </p:sp>
      <p:sp>
        <p:nvSpPr>
          <p:cNvPr id="14" name="Rechteck 36">
            <a:extLst>
              <a:ext uri="{FF2B5EF4-FFF2-40B4-BE49-F238E27FC236}">
                <a16:creationId xmlns:a16="http://schemas.microsoft.com/office/drawing/2014/main" id="{74CD86FD-9606-BE5B-58A3-E93D34887345}"/>
              </a:ext>
            </a:extLst>
          </p:cNvPr>
          <p:cNvSpPr/>
          <p:nvPr/>
        </p:nvSpPr>
        <p:spPr>
          <a:xfrm>
            <a:off x="5975731" y="5113160"/>
            <a:ext cx="541020" cy="905870"/>
          </a:xfrm>
          <a:prstGeom prst="rect">
            <a:avLst/>
          </a:prstGeom>
          <a:solidFill>
            <a:srgbClr val="32323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#323232</a:t>
            </a:r>
          </a:p>
        </p:txBody>
      </p:sp>
      <p:sp>
        <p:nvSpPr>
          <p:cNvPr id="15" name="Rechteck 36">
            <a:extLst>
              <a:ext uri="{FF2B5EF4-FFF2-40B4-BE49-F238E27FC236}">
                <a16:creationId xmlns:a16="http://schemas.microsoft.com/office/drawing/2014/main" id="{F010F710-F25E-A746-148C-CD1B7C0D1602}"/>
              </a:ext>
            </a:extLst>
          </p:cNvPr>
          <p:cNvSpPr/>
          <p:nvPr/>
        </p:nvSpPr>
        <p:spPr>
          <a:xfrm>
            <a:off x="5284724" y="5113160"/>
            <a:ext cx="541020" cy="905870"/>
          </a:xfrm>
          <a:prstGeom prst="rect">
            <a:avLst/>
          </a:prstGeom>
          <a:solidFill>
            <a:srgbClr val="64646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#646464</a:t>
            </a:r>
          </a:p>
        </p:txBody>
      </p:sp>
      <p:sp>
        <p:nvSpPr>
          <p:cNvPr id="16" name="Rechteck 36">
            <a:extLst>
              <a:ext uri="{FF2B5EF4-FFF2-40B4-BE49-F238E27FC236}">
                <a16:creationId xmlns:a16="http://schemas.microsoft.com/office/drawing/2014/main" id="{9F3697C6-860F-A7E5-FBC0-15BF16EBE677}"/>
              </a:ext>
            </a:extLst>
          </p:cNvPr>
          <p:cNvSpPr/>
          <p:nvPr/>
        </p:nvSpPr>
        <p:spPr>
          <a:xfrm>
            <a:off x="4593717" y="5113159"/>
            <a:ext cx="541020" cy="905870"/>
          </a:xfrm>
          <a:prstGeom prst="rect">
            <a:avLst/>
          </a:prstGeom>
          <a:solidFill>
            <a:srgbClr val="96969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#969696</a:t>
            </a:r>
          </a:p>
        </p:txBody>
      </p:sp>
      <p:sp>
        <p:nvSpPr>
          <p:cNvPr id="17" name="Rechteck 36">
            <a:extLst>
              <a:ext uri="{FF2B5EF4-FFF2-40B4-BE49-F238E27FC236}">
                <a16:creationId xmlns:a16="http://schemas.microsoft.com/office/drawing/2014/main" id="{A2DEAE03-A97F-442E-9F71-B57299E0B0A6}"/>
              </a:ext>
            </a:extLst>
          </p:cNvPr>
          <p:cNvSpPr/>
          <p:nvPr/>
        </p:nvSpPr>
        <p:spPr>
          <a:xfrm>
            <a:off x="10812780" y="5122955"/>
            <a:ext cx="541020" cy="905870"/>
          </a:xfrm>
          <a:prstGeom prst="rect">
            <a:avLst/>
          </a:prstGeom>
          <a:solidFill>
            <a:srgbClr val="00B69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>
                <a:latin typeface="Helvetica" panose="020B0604020202020204" pitchFamily="34" charset="0"/>
              </a:rPr>
              <a:t>#00b695</a:t>
            </a:r>
          </a:p>
        </p:txBody>
      </p:sp>
      <p:sp>
        <p:nvSpPr>
          <p:cNvPr id="18" name="Rechteck 36">
            <a:extLst>
              <a:ext uri="{FF2B5EF4-FFF2-40B4-BE49-F238E27FC236}">
                <a16:creationId xmlns:a16="http://schemas.microsoft.com/office/drawing/2014/main" id="{C0D40ACA-8267-3772-B556-83985873C2D6}"/>
              </a:ext>
            </a:extLst>
          </p:cNvPr>
          <p:cNvSpPr/>
          <p:nvPr/>
        </p:nvSpPr>
        <p:spPr>
          <a:xfrm>
            <a:off x="2520696" y="5113159"/>
            <a:ext cx="541020" cy="905870"/>
          </a:xfrm>
          <a:prstGeom prst="rect">
            <a:avLst/>
          </a:prstGeom>
          <a:solidFill>
            <a:srgbClr val="FAFA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solidFill>
                  <a:srgbClr val="323232"/>
                </a:solidFill>
                <a:latin typeface="Helvetica" panose="020B0604020202020204" pitchFamily="34" charset="0"/>
              </a:rPr>
              <a:t>#FAFAFA</a:t>
            </a:r>
          </a:p>
        </p:txBody>
      </p:sp>
      <p:pic>
        <p:nvPicPr>
          <p:cNvPr id="19" name="Graphic 31" descr="Checkmark">
            <a:extLst>
              <a:ext uri="{FF2B5EF4-FFF2-40B4-BE49-F238E27FC236}">
                <a16:creationId xmlns:a16="http://schemas.microsoft.com/office/drawing/2014/main" id="{DA7661D1-2CA2-7C8B-C76A-56171CD57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1111" y="3986317"/>
            <a:ext cx="432000" cy="432000"/>
          </a:xfrm>
          <a:prstGeom prst="rect">
            <a:avLst/>
          </a:prstGeom>
        </p:spPr>
      </p:pic>
      <p:pic>
        <p:nvPicPr>
          <p:cNvPr id="20" name="Graphic 38" descr="Close">
            <a:extLst>
              <a:ext uri="{FF2B5EF4-FFF2-40B4-BE49-F238E27FC236}">
                <a16:creationId xmlns:a16="http://schemas.microsoft.com/office/drawing/2014/main" id="{AB16876B-FAA2-DB78-74FF-18466338F7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7484" y="3986317"/>
            <a:ext cx="432000" cy="432000"/>
          </a:xfrm>
          <a:prstGeom prst="rect">
            <a:avLst/>
          </a:prstGeom>
        </p:spPr>
      </p:pic>
      <p:pic>
        <p:nvPicPr>
          <p:cNvPr id="21" name="Graphic 46" descr="Lightning bolt">
            <a:extLst>
              <a:ext uri="{FF2B5EF4-FFF2-40B4-BE49-F238E27FC236}">
                <a16:creationId xmlns:a16="http://schemas.microsoft.com/office/drawing/2014/main" id="{BE37EE43-A143-19C4-DB66-37064FD102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83857" y="3989143"/>
            <a:ext cx="432000" cy="432000"/>
          </a:xfrm>
          <a:prstGeom prst="rect">
            <a:avLst/>
          </a:prstGeom>
        </p:spPr>
      </p:pic>
      <p:pic>
        <p:nvPicPr>
          <p:cNvPr id="22" name="Graphic 23" descr="Bullseye">
            <a:extLst>
              <a:ext uri="{FF2B5EF4-FFF2-40B4-BE49-F238E27FC236}">
                <a16:creationId xmlns:a16="http://schemas.microsoft.com/office/drawing/2014/main" id="{A94BA634-5988-A25C-0ED0-2E4E395508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11704" y="3978121"/>
            <a:ext cx="432000" cy="432000"/>
          </a:xfrm>
          <a:prstGeom prst="rect">
            <a:avLst/>
          </a:prstGeom>
        </p:spPr>
      </p:pic>
      <p:pic>
        <p:nvPicPr>
          <p:cNvPr id="23" name="Graphic 26" descr="Speech">
            <a:extLst>
              <a:ext uri="{FF2B5EF4-FFF2-40B4-BE49-F238E27FC236}">
                <a16:creationId xmlns:a16="http://schemas.microsoft.com/office/drawing/2014/main" id="{6217C35D-71CD-CD84-B8B7-54DDF89428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0003" y="3985876"/>
            <a:ext cx="432000" cy="432000"/>
          </a:xfrm>
          <a:prstGeom prst="rect">
            <a:avLst/>
          </a:prstGeom>
        </p:spPr>
      </p:pic>
      <p:grpSp>
        <p:nvGrpSpPr>
          <p:cNvPr id="24" name="Group 14">
            <a:extLst>
              <a:ext uri="{FF2B5EF4-FFF2-40B4-BE49-F238E27FC236}">
                <a16:creationId xmlns:a16="http://schemas.microsoft.com/office/drawing/2014/main" id="{9BEF325E-8CF9-158C-AC3A-ABD1F0CF596A}"/>
              </a:ext>
            </a:extLst>
          </p:cNvPr>
          <p:cNvGrpSpPr/>
          <p:nvPr/>
        </p:nvGrpSpPr>
        <p:grpSpPr>
          <a:xfrm>
            <a:off x="6807388" y="1397557"/>
            <a:ext cx="4574118" cy="1939637"/>
            <a:chOff x="7841673" y="2623127"/>
            <a:chExt cx="3371272" cy="1939637"/>
          </a:xfrm>
        </p:grpSpPr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B30C02CF-96C3-ED7D-00D2-5E8246DED12E}"/>
                </a:ext>
              </a:extLst>
            </p:cNvPr>
            <p:cNvSpPr/>
            <p:nvPr/>
          </p:nvSpPr>
          <p:spPr>
            <a:xfrm>
              <a:off x="7841673" y="2623127"/>
              <a:ext cx="3371272" cy="1939637"/>
            </a:xfrm>
            <a:prstGeom prst="rect">
              <a:avLst/>
            </a:prstGeom>
            <a:noFill/>
            <a:ln w="19050">
              <a:solidFill>
                <a:srgbClr val="9696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</a:endParaRPr>
            </a:p>
          </p:txBody>
        </p:sp>
        <p:sp>
          <p:nvSpPr>
            <p:cNvPr id="26" name="Freeform: Shape 10">
              <a:extLst>
                <a:ext uri="{FF2B5EF4-FFF2-40B4-BE49-F238E27FC236}">
                  <a16:creationId xmlns:a16="http://schemas.microsoft.com/office/drawing/2014/main" id="{D790A8D9-0965-BADA-2963-88C26AE51C8C}"/>
                </a:ext>
              </a:extLst>
            </p:cNvPr>
            <p:cNvSpPr/>
            <p:nvPr/>
          </p:nvSpPr>
          <p:spPr>
            <a:xfrm>
              <a:off x="7915564" y="3094094"/>
              <a:ext cx="2983345" cy="1293179"/>
            </a:xfrm>
            <a:custGeom>
              <a:avLst/>
              <a:gdLst>
                <a:gd name="connsiteX0" fmla="*/ 0 w 2983345"/>
                <a:gd name="connsiteY0" fmla="*/ 1293179 h 1293179"/>
                <a:gd name="connsiteX1" fmla="*/ 221672 w 2983345"/>
                <a:gd name="connsiteY1" fmla="*/ 563506 h 1293179"/>
                <a:gd name="connsiteX2" fmla="*/ 683491 w 2983345"/>
                <a:gd name="connsiteY2" fmla="*/ 88 h 1293179"/>
                <a:gd name="connsiteX3" fmla="*/ 1089891 w 2983345"/>
                <a:gd name="connsiteY3" fmla="*/ 517324 h 1293179"/>
                <a:gd name="connsiteX4" fmla="*/ 1616363 w 2983345"/>
                <a:gd name="connsiteY4" fmla="*/ 166342 h 1293179"/>
                <a:gd name="connsiteX5" fmla="*/ 2078181 w 2983345"/>
                <a:gd name="connsiteY5" fmla="*/ 997615 h 1293179"/>
                <a:gd name="connsiteX6" fmla="*/ 2558472 w 2983345"/>
                <a:gd name="connsiteY6" fmla="*/ 295651 h 1293179"/>
                <a:gd name="connsiteX7" fmla="*/ 2983345 w 2983345"/>
                <a:gd name="connsiteY7" fmla="*/ 563506 h 1293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83345" h="1293179">
                  <a:moveTo>
                    <a:pt x="0" y="1293179"/>
                  </a:moveTo>
                  <a:cubicBezTo>
                    <a:pt x="53878" y="1036100"/>
                    <a:pt x="107757" y="779021"/>
                    <a:pt x="221672" y="563506"/>
                  </a:cubicBezTo>
                  <a:cubicBezTo>
                    <a:pt x="335587" y="347991"/>
                    <a:pt x="538788" y="7785"/>
                    <a:pt x="683491" y="88"/>
                  </a:cubicBezTo>
                  <a:cubicBezTo>
                    <a:pt x="828194" y="-7609"/>
                    <a:pt x="934412" y="489615"/>
                    <a:pt x="1089891" y="517324"/>
                  </a:cubicBezTo>
                  <a:cubicBezTo>
                    <a:pt x="1245370" y="545033"/>
                    <a:pt x="1451648" y="86293"/>
                    <a:pt x="1616363" y="166342"/>
                  </a:cubicBezTo>
                  <a:cubicBezTo>
                    <a:pt x="1781078" y="246390"/>
                    <a:pt x="1921163" y="976064"/>
                    <a:pt x="2078181" y="997615"/>
                  </a:cubicBezTo>
                  <a:cubicBezTo>
                    <a:pt x="2235199" y="1019166"/>
                    <a:pt x="2407611" y="368002"/>
                    <a:pt x="2558472" y="295651"/>
                  </a:cubicBezTo>
                  <a:cubicBezTo>
                    <a:pt x="2709333" y="223300"/>
                    <a:pt x="2846339" y="393403"/>
                    <a:pt x="2983345" y="563506"/>
                  </a:cubicBezTo>
                </a:path>
              </a:pathLst>
            </a:custGeom>
            <a:noFill/>
            <a:ln w="28575">
              <a:solidFill>
                <a:srgbClr val="008B9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</a:endParaRPr>
            </a:p>
          </p:txBody>
        </p:sp>
        <p:sp>
          <p:nvSpPr>
            <p:cNvPr id="27" name="Freeform: Shape 11">
              <a:extLst>
                <a:ext uri="{FF2B5EF4-FFF2-40B4-BE49-F238E27FC236}">
                  <a16:creationId xmlns:a16="http://schemas.microsoft.com/office/drawing/2014/main" id="{A4DF4799-F4EB-F430-4BCF-AA765C8F8362}"/>
                </a:ext>
              </a:extLst>
            </p:cNvPr>
            <p:cNvSpPr/>
            <p:nvPr/>
          </p:nvSpPr>
          <p:spPr>
            <a:xfrm>
              <a:off x="7924800" y="3112212"/>
              <a:ext cx="3241964" cy="1247352"/>
            </a:xfrm>
            <a:custGeom>
              <a:avLst/>
              <a:gdLst>
                <a:gd name="connsiteX0" fmla="*/ 0 w 3241964"/>
                <a:gd name="connsiteY0" fmla="*/ 1247352 h 1247352"/>
                <a:gd name="connsiteX1" fmla="*/ 434109 w 3241964"/>
                <a:gd name="connsiteY1" fmla="*/ 508443 h 1247352"/>
                <a:gd name="connsiteX2" fmla="*/ 951345 w 3241964"/>
                <a:gd name="connsiteY2" fmla="*/ 443 h 1247352"/>
                <a:gd name="connsiteX3" fmla="*/ 1394691 w 3241964"/>
                <a:gd name="connsiteY3" fmla="*/ 591570 h 1247352"/>
                <a:gd name="connsiteX4" fmla="*/ 1828800 w 3241964"/>
                <a:gd name="connsiteY4" fmla="*/ 102043 h 1247352"/>
                <a:gd name="connsiteX5" fmla="*/ 2392218 w 3241964"/>
                <a:gd name="connsiteY5" fmla="*/ 951788 h 1247352"/>
                <a:gd name="connsiteX6" fmla="*/ 2890982 w 3241964"/>
                <a:gd name="connsiteY6" fmla="*/ 185170 h 1247352"/>
                <a:gd name="connsiteX7" fmla="*/ 3241964 w 3241964"/>
                <a:gd name="connsiteY7" fmla="*/ 314479 h 1247352"/>
                <a:gd name="connsiteX8" fmla="*/ 3241964 w 3241964"/>
                <a:gd name="connsiteY8" fmla="*/ 314479 h 124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41964" h="1247352">
                  <a:moveTo>
                    <a:pt x="0" y="1247352"/>
                  </a:moveTo>
                  <a:cubicBezTo>
                    <a:pt x="137776" y="981806"/>
                    <a:pt x="275552" y="716261"/>
                    <a:pt x="434109" y="508443"/>
                  </a:cubicBezTo>
                  <a:cubicBezTo>
                    <a:pt x="592666" y="300625"/>
                    <a:pt x="791248" y="-13411"/>
                    <a:pt x="951345" y="443"/>
                  </a:cubicBezTo>
                  <a:cubicBezTo>
                    <a:pt x="1111442" y="14297"/>
                    <a:pt x="1248449" y="574637"/>
                    <a:pt x="1394691" y="591570"/>
                  </a:cubicBezTo>
                  <a:cubicBezTo>
                    <a:pt x="1540933" y="608503"/>
                    <a:pt x="1662546" y="42007"/>
                    <a:pt x="1828800" y="102043"/>
                  </a:cubicBezTo>
                  <a:cubicBezTo>
                    <a:pt x="1995054" y="162079"/>
                    <a:pt x="2215188" y="937933"/>
                    <a:pt x="2392218" y="951788"/>
                  </a:cubicBezTo>
                  <a:cubicBezTo>
                    <a:pt x="2569248" y="965642"/>
                    <a:pt x="2749358" y="291388"/>
                    <a:pt x="2890982" y="185170"/>
                  </a:cubicBezTo>
                  <a:cubicBezTo>
                    <a:pt x="3032606" y="78952"/>
                    <a:pt x="3241964" y="314479"/>
                    <a:pt x="3241964" y="314479"/>
                  </a:cubicBezTo>
                  <a:lnTo>
                    <a:pt x="3241964" y="314479"/>
                  </a:lnTo>
                </a:path>
              </a:pathLst>
            </a:custGeom>
            <a:noFill/>
            <a:ln w="28575">
              <a:solidFill>
                <a:srgbClr val="E639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</a:endParaRPr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8B6FB32F-78C2-E827-F8D4-94B6A61AD888}"/>
                </a:ext>
              </a:extLst>
            </p:cNvPr>
            <p:cNvSpPr/>
            <p:nvPr/>
          </p:nvSpPr>
          <p:spPr>
            <a:xfrm>
              <a:off x="7915564" y="3140177"/>
              <a:ext cx="3186545" cy="1210150"/>
            </a:xfrm>
            <a:custGeom>
              <a:avLst/>
              <a:gdLst>
                <a:gd name="connsiteX0" fmla="*/ 0 w 3186545"/>
                <a:gd name="connsiteY0" fmla="*/ 1210150 h 1210150"/>
                <a:gd name="connsiteX1" fmla="*/ 267854 w 3186545"/>
                <a:gd name="connsiteY1" fmla="*/ 64841 h 1210150"/>
                <a:gd name="connsiteX2" fmla="*/ 701963 w 3186545"/>
                <a:gd name="connsiteY2" fmla="*/ 582078 h 1210150"/>
                <a:gd name="connsiteX3" fmla="*/ 1311563 w 3186545"/>
                <a:gd name="connsiteY3" fmla="*/ 64841 h 1210150"/>
                <a:gd name="connsiteX4" fmla="*/ 1958109 w 3186545"/>
                <a:gd name="connsiteY4" fmla="*/ 498950 h 1210150"/>
                <a:gd name="connsiteX5" fmla="*/ 2558472 w 3186545"/>
                <a:gd name="connsiteY5" fmla="*/ 187 h 1210150"/>
                <a:gd name="connsiteX6" fmla="*/ 3186545 w 3186545"/>
                <a:gd name="connsiteY6" fmla="*/ 452768 h 1210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86545" h="1210150">
                  <a:moveTo>
                    <a:pt x="0" y="1210150"/>
                  </a:moveTo>
                  <a:cubicBezTo>
                    <a:pt x="75430" y="689835"/>
                    <a:pt x="150860" y="169520"/>
                    <a:pt x="267854" y="64841"/>
                  </a:cubicBezTo>
                  <a:cubicBezTo>
                    <a:pt x="384848" y="-39838"/>
                    <a:pt x="528012" y="582078"/>
                    <a:pt x="701963" y="582078"/>
                  </a:cubicBezTo>
                  <a:cubicBezTo>
                    <a:pt x="875914" y="582078"/>
                    <a:pt x="1102205" y="78696"/>
                    <a:pt x="1311563" y="64841"/>
                  </a:cubicBezTo>
                  <a:cubicBezTo>
                    <a:pt x="1520921" y="50986"/>
                    <a:pt x="1750291" y="509726"/>
                    <a:pt x="1958109" y="498950"/>
                  </a:cubicBezTo>
                  <a:cubicBezTo>
                    <a:pt x="2165927" y="488174"/>
                    <a:pt x="2353733" y="7884"/>
                    <a:pt x="2558472" y="187"/>
                  </a:cubicBezTo>
                  <a:cubicBezTo>
                    <a:pt x="2763211" y="-7510"/>
                    <a:pt x="2974878" y="222629"/>
                    <a:pt x="3186545" y="452768"/>
                  </a:cubicBezTo>
                </a:path>
              </a:pathLst>
            </a:custGeom>
            <a:noFill/>
            <a:ln w="28575">
              <a:solidFill>
                <a:srgbClr val="00B6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</a:endParaRPr>
            </a:p>
          </p:txBody>
        </p:sp>
      </p:grp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E972234-A90E-DF6A-7897-5B199A419343}"/>
              </a:ext>
            </a:extLst>
          </p:cNvPr>
          <p:cNvCxnSpPr>
            <a:stCxn id="4" idx="0"/>
          </p:cNvCxnSpPr>
          <p:nvPr/>
        </p:nvCxnSpPr>
        <p:spPr>
          <a:xfrm flipV="1">
            <a:off x="7881855" y="2600325"/>
            <a:ext cx="0" cy="10111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F51F7785-E161-E279-B436-55CFA7F47EAD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9701276" y="2519682"/>
            <a:ext cx="578057" cy="1091826"/>
          </a:xfrm>
          <a:prstGeom prst="straightConnector1">
            <a:avLst/>
          </a:prstGeom>
          <a:ln>
            <a:tailEnd type="oval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9" name="Fußzeilenplatzhalter 28">
            <a:extLst>
              <a:ext uri="{FF2B5EF4-FFF2-40B4-BE49-F238E27FC236}">
                <a16:creationId xmlns:a16="http://schemas.microsoft.com/office/drawing/2014/main" id="{2D10EFD0-1707-DB10-E7F6-3DAE7F5D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Cyber-Physical Systems in Mechanical Engineering, TU Berlin</a:t>
            </a:r>
            <a:endParaRPr lang="de-DE"/>
          </a:p>
        </p:txBody>
      </p:sp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6D127189-8037-7590-1ADA-A61299C0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E48-1D37-4D37-9768-37B2A840CF93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9924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5BA0-2FB7-34C7-D00F-9409ABFA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Some</a:t>
            </a:r>
            <a:r>
              <a:rPr lang="de-DE" dirty="0"/>
              <a:t> (PPTX)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68B40-E067-5E58-11BB-9B8B6005D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bullet</a:t>
            </a:r>
            <a:r>
              <a:rPr lang="de-DE" dirty="0"/>
              <a:t> </a:t>
            </a:r>
            <a:r>
              <a:rPr lang="de-DE" dirty="0" err="1"/>
              <a:t>point</a:t>
            </a:r>
            <a:endParaRPr lang="de-DE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F6FBBC1-CA5C-4FDB-0409-B37F667A2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1132544"/>
              </p:ext>
            </p:extLst>
          </p:nvPr>
        </p:nvGraphicFramePr>
        <p:xfrm>
          <a:off x="838200" y="2220686"/>
          <a:ext cx="3387220" cy="2743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935728F-6F85-B1FD-7BD9-7B6812A8BB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569966"/>
              </p:ext>
            </p:extLst>
          </p:nvPr>
        </p:nvGraphicFramePr>
        <p:xfrm>
          <a:off x="5606456" y="2362627"/>
          <a:ext cx="3780140" cy="2743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184A8E-2FD5-049C-CCB7-03F97A341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Cyber-Physical Systems in Mechanical Engineering, TU Berlin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FDF5B0-17CF-0CFD-5B70-D5A3D6499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E48-1D37-4D37-9768-37B2A840CF93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923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9DDB2-750E-396E-940E-3EF8FC13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Designing</a:t>
            </a:r>
            <a:r>
              <a:rPr lang="de-DE" dirty="0"/>
              <a:t> Slides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28992E-F8AF-DC38-6C33-DF03B424B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3 x 30%rule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CC549E-5A96-E812-9C8A-37EF66636D48}"/>
              </a:ext>
            </a:extLst>
          </p:cNvPr>
          <p:cNvCxnSpPr/>
          <p:nvPr/>
        </p:nvCxnSpPr>
        <p:spPr>
          <a:xfrm>
            <a:off x="4043365" y="0"/>
            <a:ext cx="0" cy="6858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883FDE-3950-EEEE-239D-9A6A1C158604}"/>
              </a:ext>
            </a:extLst>
          </p:cNvPr>
          <p:cNvCxnSpPr/>
          <p:nvPr/>
        </p:nvCxnSpPr>
        <p:spPr>
          <a:xfrm>
            <a:off x="8125329" y="0"/>
            <a:ext cx="0" cy="6858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F9C32E-0E15-C091-164F-7BBA9705D305}"/>
              </a:ext>
            </a:extLst>
          </p:cNvPr>
          <p:cNvCxnSpPr/>
          <p:nvPr/>
        </p:nvCxnSpPr>
        <p:spPr>
          <a:xfrm>
            <a:off x="2" y="2168525"/>
            <a:ext cx="12192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CF3188-8A8A-7AA0-1FD6-78ED711107ED}"/>
              </a:ext>
            </a:extLst>
          </p:cNvPr>
          <p:cNvCxnSpPr/>
          <p:nvPr/>
        </p:nvCxnSpPr>
        <p:spPr>
          <a:xfrm>
            <a:off x="2" y="4689475"/>
            <a:ext cx="12192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08DF1C9-287E-C7F3-3A58-EBC0BF7F7131}"/>
              </a:ext>
            </a:extLst>
          </p:cNvPr>
          <p:cNvSpPr/>
          <p:nvPr/>
        </p:nvSpPr>
        <p:spPr>
          <a:xfrm>
            <a:off x="3898234" y="1992062"/>
            <a:ext cx="336879" cy="3529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8D5E8BD-D0DA-8694-C80F-ABBCEB522E7A}"/>
              </a:ext>
            </a:extLst>
          </p:cNvPr>
          <p:cNvSpPr/>
          <p:nvPr/>
        </p:nvSpPr>
        <p:spPr>
          <a:xfrm>
            <a:off x="7956889" y="1992062"/>
            <a:ext cx="336879" cy="3529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7F3350-A7DB-DCF0-2EBC-6CA0B243C0A3}"/>
              </a:ext>
            </a:extLst>
          </p:cNvPr>
          <p:cNvSpPr/>
          <p:nvPr/>
        </p:nvSpPr>
        <p:spPr>
          <a:xfrm>
            <a:off x="3898234" y="4513013"/>
            <a:ext cx="336879" cy="3529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8AA53F8-72D6-4474-183C-4E2124D96FC6}"/>
              </a:ext>
            </a:extLst>
          </p:cNvPr>
          <p:cNvSpPr/>
          <p:nvPr/>
        </p:nvSpPr>
        <p:spPr>
          <a:xfrm>
            <a:off x="7949617" y="4513012"/>
            <a:ext cx="336879" cy="3529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1222D9-421D-80CB-6EF8-753F0105F551}"/>
              </a:ext>
            </a:extLst>
          </p:cNvPr>
          <p:cNvSpPr/>
          <p:nvPr/>
        </p:nvSpPr>
        <p:spPr>
          <a:xfrm rot="5400000">
            <a:off x="7203661" y="2852654"/>
            <a:ext cx="1828791" cy="36736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5913ADA-F5E0-069C-F3EE-78C0B48D5230}"/>
              </a:ext>
            </a:extLst>
          </p:cNvPr>
          <p:cNvSpPr txBox="1"/>
          <p:nvPr/>
        </p:nvSpPr>
        <p:spPr>
          <a:xfrm>
            <a:off x="1545433" y="2847282"/>
            <a:ext cx="1790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Power </a:t>
            </a:r>
            <a:r>
              <a:rPr lang="de-DE" dirty="0" err="1"/>
              <a:t>points</a:t>
            </a:r>
            <a:r>
              <a:rPr lang="de-DE" dirty="0"/>
              <a:t>. Place </a:t>
            </a:r>
            <a:r>
              <a:rPr lang="de-DE" dirty="0" err="1"/>
              <a:t>content</a:t>
            </a:r>
            <a:r>
              <a:rPr lang="de-DE" dirty="0"/>
              <a:t> </a:t>
            </a:r>
            <a:r>
              <a:rPr lang="de-DE" dirty="0" err="1"/>
              <a:t>there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08BA57CA-3F71-4354-C073-B67018EC8198}"/>
              </a:ext>
            </a:extLst>
          </p:cNvPr>
          <p:cNvCxnSpPr/>
          <p:nvPr/>
        </p:nvCxnSpPr>
        <p:spPr>
          <a:xfrm flipV="1">
            <a:off x="3336133" y="2344988"/>
            <a:ext cx="562101" cy="502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FAEF7A74-4F5F-78CD-4EA0-1CB532C6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Cyber-Physical Systems in Mechanical Engineering, TU Berlin</a:t>
            </a:r>
            <a:endParaRPr lang="de-DE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148E4596-6BFC-EFE3-4F81-D6356D58B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E48-1D37-4D37-9768-37B2A840CF93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1420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9E34B-361A-E959-D272-DCC950072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Inverse </a:t>
            </a:r>
            <a:r>
              <a:rPr lang="de-DE" dirty="0" err="1">
                <a:solidFill>
                  <a:schemeClr val="bg2"/>
                </a:solidFill>
              </a:rPr>
              <a:t>Colormap</a:t>
            </a:r>
            <a:r>
              <a:rPr lang="de-DE" dirty="0">
                <a:solidFill>
                  <a:schemeClr val="bg2"/>
                </a:solidFill>
              </a:rPr>
              <a:t> Layout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EB70FF-394E-198E-74ED-DCCD8E30D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May </a:t>
            </a:r>
            <a:r>
              <a:rPr lang="de-DE" dirty="0" err="1">
                <a:solidFill>
                  <a:schemeClr val="bg2"/>
                </a:solidFill>
              </a:rPr>
              <a:t>come</a:t>
            </a:r>
            <a:r>
              <a:rPr lang="de-DE" dirty="0">
                <a:solidFill>
                  <a:schemeClr val="bg2"/>
                </a:solidFill>
              </a:rPr>
              <a:t> in </a:t>
            </a:r>
            <a:r>
              <a:rPr lang="de-DE" dirty="0" err="1">
                <a:solidFill>
                  <a:schemeClr val="bg2"/>
                </a:solidFill>
              </a:rPr>
              <a:t>handy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some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day</a:t>
            </a:r>
            <a:endParaRPr lang="de-DE" dirty="0">
              <a:solidFill>
                <a:schemeClr val="bg2"/>
              </a:solidFill>
            </a:endParaRPr>
          </a:p>
          <a:p>
            <a:endParaRPr lang="de-DE" dirty="0">
              <a:solidFill>
                <a:schemeClr val="bg2"/>
              </a:solidFill>
            </a:endParaRPr>
          </a:p>
          <a:p>
            <a:r>
              <a:rPr lang="de-DE" dirty="0">
                <a:solidFill>
                  <a:schemeClr val="bg2"/>
                </a:solidFill>
              </a:rPr>
              <a:t>Create separate </a:t>
            </a:r>
            <a:r>
              <a:rPr lang="de-DE" dirty="0" err="1">
                <a:solidFill>
                  <a:schemeClr val="bg2"/>
                </a:solidFill>
              </a:rPr>
              <a:t>sections</a:t>
            </a:r>
            <a:r>
              <a:rPr lang="de-DE" dirty="0">
                <a:solidFill>
                  <a:schemeClr val="bg2"/>
                </a:solidFill>
              </a:rPr>
              <a:t> in </a:t>
            </a:r>
            <a:r>
              <a:rPr lang="de-DE" dirty="0" err="1">
                <a:solidFill>
                  <a:schemeClr val="bg2"/>
                </a:solidFill>
              </a:rPr>
              <a:t>the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slides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overview</a:t>
            </a:r>
            <a:r>
              <a:rPr lang="de-DE" dirty="0">
                <a:solidFill>
                  <a:schemeClr val="bg2"/>
                </a:solidFill>
              </a:rPr>
              <a:t>, and </a:t>
            </a:r>
            <a:r>
              <a:rPr lang="de-DE" dirty="0" err="1">
                <a:solidFill>
                  <a:schemeClr val="bg2"/>
                </a:solidFill>
              </a:rPr>
              <a:t>apply</a:t>
            </a:r>
            <a:r>
              <a:rPr lang="de-DE" dirty="0">
                <a:solidFill>
                  <a:schemeClr val="bg2"/>
                </a:solidFill>
              </a:rPr>
              <a:t> a different design </a:t>
            </a:r>
            <a:r>
              <a:rPr lang="de-DE" dirty="0" err="1">
                <a:solidFill>
                  <a:schemeClr val="bg2"/>
                </a:solidFill>
              </a:rPr>
              <a:t>theme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to</a:t>
            </a:r>
            <a:r>
              <a:rPr lang="de-DE" dirty="0">
                <a:solidFill>
                  <a:schemeClr val="bg2"/>
                </a:solidFill>
              </a:rPr>
              <a:t> all </a:t>
            </a:r>
            <a:r>
              <a:rPr lang="de-DE" dirty="0" err="1">
                <a:solidFill>
                  <a:schemeClr val="bg2"/>
                </a:solidFill>
              </a:rPr>
              <a:t>slides</a:t>
            </a:r>
            <a:r>
              <a:rPr lang="de-DE" dirty="0">
                <a:solidFill>
                  <a:schemeClr val="bg2"/>
                </a:solidFill>
              </a:rPr>
              <a:t> in </a:t>
            </a:r>
            <a:r>
              <a:rPr lang="de-DE" dirty="0" err="1">
                <a:solidFill>
                  <a:schemeClr val="bg2"/>
                </a:solidFill>
              </a:rPr>
              <a:t>that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section</a:t>
            </a:r>
            <a:r>
              <a:rPr lang="de-DE" dirty="0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A62681A-76A6-EDE2-5E49-CFF2D86CA2D3}"/>
              </a:ext>
            </a:extLst>
          </p:cNvPr>
          <p:cNvSpPr/>
          <p:nvPr/>
        </p:nvSpPr>
        <p:spPr>
          <a:xfrm>
            <a:off x="6666738" y="5113160"/>
            <a:ext cx="541020" cy="905870"/>
          </a:xfrm>
          <a:prstGeom prst="rect">
            <a:avLst/>
          </a:prstGeom>
          <a:solidFill>
            <a:srgbClr val="E6394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#E63946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70B7D1C-85C0-9420-4E02-F9FCE0431332}"/>
              </a:ext>
            </a:extLst>
          </p:cNvPr>
          <p:cNvSpPr/>
          <p:nvPr/>
        </p:nvSpPr>
        <p:spPr>
          <a:xfrm>
            <a:off x="8048752" y="5113160"/>
            <a:ext cx="541020" cy="905870"/>
          </a:xfrm>
          <a:prstGeom prst="rect">
            <a:avLst/>
          </a:prstGeom>
          <a:solidFill>
            <a:srgbClr val="A8DADC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>
                <a:latin typeface="Helvetica" panose="020B0604020202020204" pitchFamily="34" charset="0"/>
              </a:rPr>
              <a:t>#A8DADC</a:t>
            </a:r>
            <a:endParaRPr lang="de-DE" sz="1200" dirty="0">
              <a:latin typeface="Helvetica" panose="020B060402020202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12BEF70-07E3-7079-5273-73FF162ED089}"/>
              </a:ext>
            </a:extLst>
          </p:cNvPr>
          <p:cNvSpPr/>
          <p:nvPr/>
        </p:nvSpPr>
        <p:spPr>
          <a:xfrm>
            <a:off x="8739759" y="5113160"/>
            <a:ext cx="541020" cy="905870"/>
          </a:xfrm>
          <a:prstGeom prst="rect">
            <a:avLst/>
          </a:prstGeom>
          <a:solidFill>
            <a:srgbClr val="457B9D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#457B9D</a:t>
            </a:r>
          </a:p>
        </p:txBody>
      </p:sp>
      <p:sp>
        <p:nvSpPr>
          <p:cNvPr id="7" name="Rechteck 37">
            <a:extLst>
              <a:ext uri="{FF2B5EF4-FFF2-40B4-BE49-F238E27FC236}">
                <a16:creationId xmlns:a16="http://schemas.microsoft.com/office/drawing/2014/main" id="{F1C5970D-292A-0155-DE0E-51DD11803E04}"/>
              </a:ext>
            </a:extLst>
          </p:cNvPr>
          <p:cNvSpPr/>
          <p:nvPr/>
        </p:nvSpPr>
        <p:spPr>
          <a:xfrm>
            <a:off x="10121773" y="5122955"/>
            <a:ext cx="541020" cy="905870"/>
          </a:xfrm>
          <a:prstGeom prst="rect">
            <a:avLst/>
          </a:prstGeom>
          <a:solidFill>
            <a:srgbClr val="008B9A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#008b9a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id="{0EA7B688-4D5A-0B56-BDBF-E1920FCE94C8}"/>
              </a:ext>
            </a:extLst>
          </p:cNvPr>
          <p:cNvSpPr/>
          <p:nvPr/>
        </p:nvSpPr>
        <p:spPr>
          <a:xfrm>
            <a:off x="7357745" y="5113160"/>
            <a:ext cx="541020" cy="905870"/>
          </a:xfrm>
          <a:prstGeom prst="rect">
            <a:avLst/>
          </a:prstGeom>
          <a:solidFill>
            <a:srgbClr val="F1FAEE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solidFill>
                  <a:srgbClr val="323232"/>
                </a:solidFill>
                <a:latin typeface="Helvetica" panose="020B0604020202020204" pitchFamily="34" charset="0"/>
              </a:rPr>
              <a:t>#F1FAEE</a:t>
            </a:r>
          </a:p>
        </p:txBody>
      </p:sp>
      <p:sp>
        <p:nvSpPr>
          <p:cNvPr id="9" name="Rechteck 37">
            <a:extLst>
              <a:ext uri="{FF2B5EF4-FFF2-40B4-BE49-F238E27FC236}">
                <a16:creationId xmlns:a16="http://schemas.microsoft.com/office/drawing/2014/main" id="{83180129-086F-C3D4-FE7F-773860ADAE4D}"/>
              </a:ext>
            </a:extLst>
          </p:cNvPr>
          <p:cNvSpPr/>
          <p:nvPr/>
        </p:nvSpPr>
        <p:spPr>
          <a:xfrm>
            <a:off x="9430766" y="5122955"/>
            <a:ext cx="541020" cy="905870"/>
          </a:xfrm>
          <a:prstGeom prst="rect">
            <a:avLst/>
          </a:prstGeom>
          <a:solidFill>
            <a:srgbClr val="1D3557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#1D3557</a:t>
            </a:r>
          </a:p>
        </p:txBody>
      </p:sp>
      <p:sp>
        <p:nvSpPr>
          <p:cNvPr id="10" name="Rechteck 36">
            <a:extLst>
              <a:ext uri="{FF2B5EF4-FFF2-40B4-BE49-F238E27FC236}">
                <a16:creationId xmlns:a16="http://schemas.microsoft.com/office/drawing/2014/main" id="{29B30E44-720A-5532-4DC6-A694A24679C7}"/>
              </a:ext>
            </a:extLst>
          </p:cNvPr>
          <p:cNvSpPr/>
          <p:nvPr/>
        </p:nvSpPr>
        <p:spPr>
          <a:xfrm>
            <a:off x="3211703" y="5113160"/>
            <a:ext cx="541020" cy="905870"/>
          </a:xfrm>
          <a:prstGeom prst="rect">
            <a:avLst/>
          </a:prstGeom>
          <a:solidFill>
            <a:srgbClr val="E1E1E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solidFill>
                  <a:srgbClr val="FAFAFA"/>
                </a:solidFill>
                <a:latin typeface="Helvetica" panose="020B0604020202020204" pitchFamily="34" charset="0"/>
              </a:rPr>
              <a:t>#E1E1E1</a:t>
            </a:r>
          </a:p>
        </p:txBody>
      </p:sp>
      <p:sp>
        <p:nvSpPr>
          <p:cNvPr id="11" name="Rechteck 36">
            <a:extLst>
              <a:ext uri="{FF2B5EF4-FFF2-40B4-BE49-F238E27FC236}">
                <a16:creationId xmlns:a16="http://schemas.microsoft.com/office/drawing/2014/main" id="{0B093B89-61A2-ACCB-67BC-73B8A2B60B32}"/>
              </a:ext>
            </a:extLst>
          </p:cNvPr>
          <p:cNvSpPr/>
          <p:nvPr/>
        </p:nvSpPr>
        <p:spPr>
          <a:xfrm>
            <a:off x="3902710" y="5113160"/>
            <a:ext cx="541020" cy="905870"/>
          </a:xfrm>
          <a:prstGeom prst="rect">
            <a:avLst/>
          </a:prstGeom>
          <a:solidFill>
            <a:srgbClr val="C8C8C8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#C8C8C8</a:t>
            </a:r>
          </a:p>
        </p:txBody>
      </p:sp>
      <p:sp>
        <p:nvSpPr>
          <p:cNvPr id="12" name="Rechteck 36">
            <a:extLst>
              <a:ext uri="{FF2B5EF4-FFF2-40B4-BE49-F238E27FC236}">
                <a16:creationId xmlns:a16="http://schemas.microsoft.com/office/drawing/2014/main" id="{1374962A-8B12-0CCC-76EF-AC3B78AD76D5}"/>
              </a:ext>
            </a:extLst>
          </p:cNvPr>
          <p:cNvSpPr/>
          <p:nvPr/>
        </p:nvSpPr>
        <p:spPr>
          <a:xfrm>
            <a:off x="5975731" y="5113160"/>
            <a:ext cx="541020" cy="905870"/>
          </a:xfrm>
          <a:prstGeom prst="rect">
            <a:avLst/>
          </a:prstGeom>
          <a:solidFill>
            <a:srgbClr val="32323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#323232</a:t>
            </a:r>
          </a:p>
        </p:txBody>
      </p:sp>
      <p:sp>
        <p:nvSpPr>
          <p:cNvPr id="13" name="Rechteck 36">
            <a:extLst>
              <a:ext uri="{FF2B5EF4-FFF2-40B4-BE49-F238E27FC236}">
                <a16:creationId xmlns:a16="http://schemas.microsoft.com/office/drawing/2014/main" id="{9878885C-9712-C79B-8DCB-57DEB17E3F9F}"/>
              </a:ext>
            </a:extLst>
          </p:cNvPr>
          <p:cNvSpPr/>
          <p:nvPr/>
        </p:nvSpPr>
        <p:spPr>
          <a:xfrm>
            <a:off x="5284724" y="5113160"/>
            <a:ext cx="541020" cy="905870"/>
          </a:xfrm>
          <a:prstGeom prst="rect">
            <a:avLst/>
          </a:prstGeom>
          <a:solidFill>
            <a:srgbClr val="646464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#646464</a:t>
            </a:r>
          </a:p>
        </p:txBody>
      </p:sp>
      <p:sp>
        <p:nvSpPr>
          <p:cNvPr id="14" name="Rechteck 36">
            <a:extLst>
              <a:ext uri="{FF2B5EF4-FFF2-40B4-BE49-F238E27FC236}">
                <a16:creationId xmlns:a16="http://schemas.microsoft.com/office/drawing/2014/main" id="{9967C294-A077-2F4C-C6D9-19CB9F2B5358}"/>
              </a:ext>
            </a:extLst>
          </p:cNvPr>
          <p:cNvSpPr/>
          <p:nvPr/>
        </p:nvSpPr>
        <p:spPr>
          <a:xfrm>
            <a:off x="4593717" y="5113159"/>
            <a:ext cx="541020" cy="905870"/>
          </a:xfrm>
          <a:prstGeom prst="rect">
            <a:avLst/>
          </a:prstGeom>
          <a:solidFill>
            <a:srgbClr val="96969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latin typeface="Helvetica" panose="020B0604020202020204" pitchFamily="34" charset="0"/>
              </a:rPr>
              <a:t>#969696</a:t>
            </a:r>
          </a:p>
        </p:txBody>
      </p:sp>
      <p:sp>
        <p:nvSpPr>
          <p:cNvPr id="15" name="Rechteck 36">
            <a:extLst>
              <a:ext uri="{FF2B5EF4-FFF2-40B4-BE49-F238E27FC236}">
                <a16:creationId xmlns:a16="http://schemas.microsoft.com/office/drawing/2014/main" id="{9A1480F0-6274-8A5B-EAF5-B1B391E3FF03}"/>
              </a:ext>
            </a:extLst>
          </p:cNvPr>
          <p:cNvSpPr/>
          <p:nvPr/>
        </p:nvSpPr>
        <p:spPr>
          <a:xfrm>
            <a:off x="10812780" y="5122955"/>
            <a:ext cx="541020" cy="905870"/>
          </a:xfrm>
          <a:prstGeom prst="rect">
            <a:avLst/>
          </a:prstGeom>
          <a:solidFill>
            <a:srgbClr val="00B695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>
                <a:latin typeface="Helvetica" panose="020B0604020202020204" pitchFamily="34" charset="0"/>
              </a:rPr>
              <a:t>#00b695</a:t>
            </a:r>
          </a:p>
        </p:txBody>
      </p:sp>
      <p:sp>
        <p:nvSpPr>
          <p:cNvPr id="16" name="Rechteck 36">
            <a:extLst>
              <a:ext uri="{FF2B5EF4-FFF2-40B4-BE49-F238E27FC236}">
                <a16:creationId xmlns:a16="http://schemas.microsoft.com/office/drawing/2014/main" id="{6425C7F7-BED3-6892-9BBF-0944C66CE549}"/>
              </a:ext>
            </a:extLst>
          </p:cNvPr>
          <p:cNvSpPr/>
          <p:nvPr/>
        </p:nvSpPr>
        <p:spPr>
          <a:xfrm>
            <a:off x="2520696" y="5113159"/>
            <a:ext cx="541020" cy="905870"/>
          </a:xfrm>
          <a:prstGeom prst="rect">
            <a:avLst/>
          </a:prstGeom>
          <a:solidFill>
            <a:srgbClr val="FAFAFA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1200" dirty="0">
                <a:solidFill>
                  <a:srgbClr val="323232"/>
                </a:solidFill>
                <a:latin typeface="Helvetica" panose="020B0604020202020204" pitchFamily="34" charset="0"/>
              </a:rPr>
              <a:t>#FAFAFA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5ABF0C28-2254-E162-BF9A-AD51292F9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Cyber-Physical Systems in Mechanical Engineering, TU Berlin</a:t>
            </a:r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8B620738-090D-883E-07B9-32ED04AE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E48-1D37-4D37-9768-37B2A840CF93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5194017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_CPSME">
  <a:themeElements>
    <a:clrScheme name="CPSME">
      <a:dk1>
        <a:srgbClr val="323232"/>
      </a:dk1>
      <a:lt1>
        <a:srgbClr val="FFFFFF"/>
      </a:lt1>
      <a:dk2>
        <a:srgbClr val="1D3557"/>
      </a:dk2>
      <a:lt2>
        <a:srgbClr val="FAFAFA"/>
      </a:lt2>
      <a:accent1>
        <a:srgbClr val="E63946"/>
      </a:accent1>
      <a:accent2>
        <a:srgbClr val="00B695"/>
      </a:accent2>
      <a:accent3>
        <a:srgbClr val="008B9A"/>
      </a:accent3>
      <a:accent4>
        <a:srgbClr val="457B9D"/>
      </a:accent4>
      <a:accent5>
        <a:srgbClr val="A8DADC"/>
      </a:accent5>
      <a:accent6>
        <a:srgbClr val="646464"/>
      </a:accent6>
      <a:hlink>
        <a:srgbClr val="008B9A"/>
      </a:hlink>
      <a:folHlink>
        <a:srgbClr val="008B9A"/>
      </a:folHlink>
    </a:clrScheme>
    <a:fontScheme name="CPS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ign_CPSME" id="{6A16EF13-67D9-4BAD-9103-628DBE1C7D70}" vid="{E49C87C5-B13B-453D-955B-8466B5EE0F1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253</Words>
  <Application>Microsoft Office PowerPoint</Application>
  <PresentationFormat>Breitbild</PresentationFormat>
  <Paragraphs>66</Paragraphs>
  <Slides>5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Helvetica</vt:lpstr>
      <vt:lpstr>Wingdings</vt:lpstr>
      <vt:lpstr>Design_CPSME</vt:lpstr>
      <vt:lpstr>CPS-ME Master Slide</vt:lpstr>
      <vt:lpstr>Some Title with Capital Letters</vt:lpstr>
      <vt:lpstr>Some (PPTX) Plots</vt:lpstr>
      <vt:lpstr>Designing Slides</vt:lpstr>
      <vt:lpstr>Inverse Colormap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Merten Stender</dc:creator>
  <cp:lastModifiedBy>Merten Stender</cp:lastModifiedBy>
  <cp:revision>137</cp:revision>
  <dcterms:created xsi:type="dcterms:W3CDTF">2023-04-19T16:20:11Z</dcterms:created>
  <dcterms:modified xsi:type="dcterms:W3CDTF">2024-05-08T06:55:55Z</dcterms:modified>
</cp:coreProperties>
</file>